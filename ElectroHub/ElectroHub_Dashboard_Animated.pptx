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17ae40eb-fdbb-1e6d-cd37-9de2e36e8f80}">
          <p14:sldIdLst>
            <p14:sldId id="256"/>
          </p14:sldIdLst>
        </p14:section>
        <p14:section name="Context" id="{33aa6688-b511-c86d-9857-4259d20632ae}">
          <p14:sldIdLst>
            <p14:sldId id="257"/>
            <p14:sldId id="258"/>
          </p14:sldIdLst>
        </p14:section>
        <p14:section name="Insights" id="{9d797bf2-bddb-2595-c059-9342d22ae21b}">
          <p14:sldIdLst>
            <p14:sldId id="259"/>
            <p14:sldId id="260"/>
            <p14:sldId id="261"/>
            <p14:sldId id="262"/>
            <p14:sldId id="263"/>
          </p14:sldIdLst>
        </p14:section>
        <p14:section name="Interactivity" id="{55ac9733-7c3b-1acb-eed7-d4b0de4e57ce}">
          <p14:sldIdLst>
            <p14:sldId id="264"/>
            <p14:sldId id="265"/>
            <p14:sldId id="266"/>
          </p14:sldIdLst>
        </p14:section>
        <p14:section name="Wrap-up" id="{07421967-0643-0cac-22e6-7753fe2cff6e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deck walks through the ElectroHub Power BI dashboard: what it answers, how the data is modelled, and what the visuals show.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eight requirements the dashboard was built to meet. Each of the next slides maps back to one or more of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fact table of orders joined to three dimension tables for customers, products and promotions. Every visual in the report slices the same fact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Across the full period the business made 122M in net sales and 12.2M in profit from 3,510 orders and about 7,100 units.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Purple bars are the top five, blue bars the bottom five. High-ticket electronics dominate sales and profit, while apparel and accessories lead on units sold.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line chart plots net sales by date from 2020 to 2024. Labelled points mark the biggest peaks and the zero-sales days.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dot is an order. They sit almost perfectly on a line, which shows profit is a steady share of net sales.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sales by city on a map. Right: average discount value for each promotion category.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Date Filter 1 and Date Filter 2 are independent, so any two periods can be compared on sales, profit and quantity sold.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Values read from the comparison page. The second period covers roughly two and a half of the four years and carries about 61% of each measure.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table lists every order with all its fields and can be sliced with the four filters at the 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four takeaways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ElectroHub  |  Power BI Sales Analytics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:1:fade:tag0"/>
          <p:cNvSpPr txBox="1"/>
          <p:nvPr/>
        </p:nvSpPr>
        <p:spPr>
          <a:xfrm>
            <a:off x="548640" y="8229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chemeClr val="accent5"/>
                </a:solidFill>
              </a:rPr>
              <a:t>ELECTROHUB</a:t>
            </a:r>
            <a:endParaRPr lang="en-US" sz="1600" dirty="0"/>
          </a:p>
        </p:txBody>
      </p:sp>
      <p:sp>
        <p:nvSpPr>
          <p:cNvPr id="3" name="anim:2:fade:title1"/>
          <p:cNvSpPr txBox="1"/>
          <p:nvPr/>
        </p:nvSpPr>
        <p:spPr>
          <a:xfrm>
            <a:off x="548640" y="128016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Analytics Dashboard</a:t>
            </a:r>
            <a:endParaRPr lang="en-US" sz="3800" dirty="0"/>
          </a:p>
        </p:txBody>
      </p:sp>
      <p:sp>
        <p:nvSpPr>
          <p:cNvPr id="4" name="anim:3:fade:sub2"/>
          <p:cNvSpPr txBox="1"/>
          <p:nvPr/>
        </p:nvSpPr>
        <p:spPr>
          <a:xfrm>
            <a:off x="548640" y="29260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A Power BI report on 3,510 orders across 50 customers, 30 products and 5 promotions, 2020 to 2023</a:t>
            </a:r>
            <a:endParaRPr lang="en-US" sz="1600" dirty="0"/>
          </a:p>
        </p:txBody>
      </p:sp>
      <p:sp>
        <p:nvSpPr>
          <p:cNvPr id="5" name="deco-circle"/>
          <p:cNvSpPr/>
          <p:nvPr/>
        </p:nvSpPr>
        <p:spPr>
          <a:xfrm>
            <a:off x="7589520" y="3383280"/>
            <a:ext cx="2377440" cy="23774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anim:4:wipe:frame3"/>
          <p:cNvSpPr/>
          <p:nvPr/>
        </p:nvSpPr>
        <p:spPr>
          <a:xfrm>
            <a:off x="4590288" y="1298448"/>
            <a:ext cx="4352544" cy="2514194"/>
          </a:xfrm>
          <a:prstGeom prst="roundRect">
            <a:avLst>
              <a:gd name="adj" fmla="val 291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anim:4:wipe:dash4" descr="ElectroHub dashboard overvie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371600"/>
            <a:ext cx="4206240" cy="23678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dashboard answers</a:t>
            </a:r>
            <a:endParaRPr lang="en-US" sz="3200" dirty="0"/>
          </a:p>
        </p:txBody>
      </p:sp>
      <p:sp>
        <p:nvSpPr>
          <p:cNvPr id="3" name="anim:1:fade:card5"/>
          <p:cNvSpPr/>
          <p:nvPr/>
        </p:nvSpPr>
        <p:spPr>
          <a:xfrm>
            <a:off x="457200" y="1234440"/>
            <a:ext cx="187452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4" name="anim:1:fade:num6"/>
          <p:cNvSpPr txBox="1"/>
          <p:nvPr/>
        </p:nvSpPr>
        <p:spPr>
          <a:xfrm>
            <a:off x="594360" y="13716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anim:1:fade:txt7"/>
          <p:cNvSpPr txBox="1"/>
          <p:nvPr/>
        </p:nvSpPr>
        <p:spPr>
          <a:xfrm>
            <a:off x="594360" y="18288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Top / bottom 5 products by sales, profit and quantity</a:t>
            </a:r>
            <a:endParaRPr lang="en-US" sz="1400" dirty="0"/>
          </a:p>
        </p:txBody>
      </p:sp>
      <p:sp>
        <p:nvSpPr>
          <p:cNvPr id="6" name="anim:2:fade:card8"/>
          <p:cNvSpPr/>
          <p:nvPr/>
        </p:nvSpPr>
        <p:spPr>
          <a:xfrm>
            <a:off x="2514600" y="1234440"/>
            <a:ext cx="187452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anim:2:fade:num9"/>
          <p:cNvSpPr txBox="1"/>
          <p:nvPr/>
        </p:nvSpPr>
        <p:spPr>
          <a:xfrm>
            <a:off x="2651760" y="13716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anim:2:fade:txt10"/>
          <p:cNvSpPr txBox="1"/>
          <p:nvPr/>
        </p:nvSpPr>
        <p:spPr>
          <a:xfrm>
            <a:off x="2651760" y="18288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How sales trend over time</a:t>
            </a:r>
            <a:endParaRPr lang="en-US" sz="1400" dirty="0"/>
          </a:p>
        </p:txBody>
      </p:sp>
      <p:sp>
        <p:nvSpPr>
          <p:cNvPr id="9" name="anim:3:fade:card11"/>
          <p:cNvSpPr/>
          <p:nvPr/>
        </p:nvSpPr>
        <p:spPr>
          <a:xfrm>
            <a:off x="4572000" y="1234440"/>
            <a:ext cx="187452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anim:3:fade:num12"/>
          <p:cNvSpPr txBox="1"/>
          <p:nvPr/>
        </p:nvSpPr>
        <p:spPr>
          <a:xfrm>
            <a:off x="4709160" y="13716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anim:3:fade:txt13"/>
          <p:cNvSpPr txBox="1"/>
          <p:nvPr/>
        </p:nvSpPr>
        <p:spPr>
          <a:xfrm>
            <a:off x="4709160" y="18288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Relationship between sales and profit</a:t>
            </a:r>
            <a:endParaRPr lang="en-US" sz="1400" dirty="0"/>
          </a:p>
        </p:txBody>
      </p:sp>
      <p:sp>
        <p:nvSpPr>
          <p:cNvPr id="12" name="anim:4:fade:card14"/>
          <p:cNvSpPr/>
          <p:nvPr/>
        </p:nvSpPr>
        <p:spPr>
          <a:xfrm>
            <a:off x="6629400" y="1234440"/>
            <a:ext cx="187452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anim:4:fade:num15"/>
          <p:cNvSpPr txBox="1"/>
          <p:nvPr/>
        </p:nvSpPr>
        <p:spPr>
          <a:xfrm>
            <a:off x="6766560" y="13716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anim:4:fade:txt16"/>
          <p:cNvSpPr txBox="1"/>
          <p:nvPr/>
        </p:nvSpPr>
        <p:spPr>
          <a:xfrm>
            <a:off x="6766560" y="18288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Compare any two periods chosen by the user</a:t>
            </a:r>
            <a:endParaRPr lang="en-US" sz="1400" dirty="0"/>
          </a:p>
        </p:txBody>
      </p:sp>
      <p:sp>
        <p:nvSpPr>
          <p:cNvPr id="15" name="anim:5:fade:card17"/>
          <p:cNvSpPr/>
          <p:nvPr/>
        </p:nvSpPr>
        <p:spPr>
          <a:xfrm>
            <a:off x="457200" y="2926080"/>
            <a:ext cx="187452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6" name="anim:5:fade:num18"/>
          <p:cNvSpPr txBox="1"/>
          <p:nvPr/>
        </p:nvSpPr>
        <p:spPr>
          <a:xfrm>
            <a:off x="594360" y="30632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anim:5:fade:txt19"/>
          <p:cNvSpPr txBox="1"/>
          <p:nvPr/>
        </p:nvSpPr>
        <p:spPr>
          <a:xfrm>
            <a:off x="594360" y="35204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Average discount per promotion category</a:t>
            </a:r>
            <a:endParaRPr lang="en-US" sz="1400" dirty="0"/>
          </a:p>
        </p:txBody>
      </p:sp>
      <p:sp>
        <p:nvSpPr>
          <p:cNvPr id="18" name="anim:6:fade:card20"/>
          <p:cNvSpPr/>
          <p:nvPr/>
        </p:nvSpPr>
        <p:spPr>
          <a:xfrm>
            <a:off x="2514600" y="2926080"/>
            <a:ext cx="187452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9" name="anim:6:fade:num21"/>
          <p:cNvSpPr txBox="1"/>
          <p:nvPr/>
        </p:nvSpPr>
        <p:spPr>
          <a:xfrm>
            <a:off x="2651760" y="30632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0" name="anim:6:fade:txt22"/>
          <p:cNvSpPr txBox="1"/>
          <p:nvPr/>
        </p:nvSpPr>
        <p:spPr>
          <a:xfrm>
            <a:off x="2651760" y="35204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Total number of orders</a:t>
            </a:r>
            <a:endParaRPr lang="en-US" sz="1400" dirty="0"/>
          </a:p>
        </p:txBody>
      </p:sp>
      <p:sp>
        <p:nvSpPr>
          <p:cNvPr id="21" name="anim:7:fade:card23"/>
          <p:cNvSpPr/>
          <p:nvPr/>
        </p:nvSpPr>
        <p:spPr>
          <a:xfrm>
            <a:off x="4572000" y="2926080"/>
            <a:ext cx="187452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2" name="anim:7:fade:num24"/>
          <p:cNvSpPr txBox="1"/>
          <p:nvPr/>
        </p:nvSpPr>
        <p:spPr>
          <a:xfrm>
            <a:off x="4709160" y="30632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23" name="anim:7:fade:txt25"/>
          <p:cNvSpPr txBox="1"/>
          <p:nvPr/>
        </p:nvSpPr>
        <p:spPr>
          <a:xfrm>
            <a:off x="4709160" y="35204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Order-level details with visual filters</a:t>
            </a:r>
            <a:endParaRPr lang="en-US" sz="1400" dirty="0"/>
          </a:p>
        </p:txBody>
      </p:sp>
      <p:sp>
        <p:nvSpPr>
          <p:cNvPr id="24" name="anim:8:fade:card26"/>
          <p:cNvSpPr/>
          <p:nvPr/>
        </p:nvSpPr>
        <p:spPr>
          <a:xfrm>
            <a:off x="6629400" y="2926080"/>
            <a:ext cx="187452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5" name="anim:8:fade:num27"/>
          <p:cNvSpPr txBox="1"/>
          <p:nvPr/>
        </p:nvSpPr>
        <p:spPr>
          <a:xfrm>
            <a:off x="6766560" y="30632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dirty="0"/>
          </a:p>
        </p:txBody>
      </p:sp>
      <p:sp>
        <p:nvSpPr>
          <p:cNvPr id="26" name="anim:8:fade:txt28"/>
          <p:cNvSpPr txBox="1"/>
          <p:nvPr/>
        </p:nvSpPr>
        <p:spPr>
          <a:xfrm>
            <a:off x="6766560" y="35204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Sales by city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35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8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25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7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315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Star-schema data model</a:t>
            </a:r>
            <a:endParaRPr lang="en-US" sz="3200" dirty="0"/>
          </a:p>
        </p:txBody>
      </p:sp>
      <p:sp>
        <p:nvSpPr>
          <p:cNvPr id="3" name="anim:3:wipe:l129"/>
          <p:cNvSpPr/>
          <p:nvPr/>
        </p:nvSpPr>
        <p:spPr>
          <a:xfrm>
            <a:off x="2788920" y="2103120"/>
            <a:ext cx="54864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4" name="anim:3:wipe:l230"/>
          <p:cNvSpPr/>
          <p:nvPr/>
        </p:nvSpPr>
        <p:spPr>
          <a:xfrm>
            <a:off x="5806440" y="2103120"/>
            <a:ext cx="54864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5" name="anim:3:wipe:l331"/>
          <p:cNvSpPr/>
          <p:nvPr/>
        </p:nvSpPr>
        <p:spPr>
          <a:xfrm>
            <a:off x="4572000" y="3246120"/>
            <a:ext cx="0" cy="32004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6" name="anim:1:fade:tbl32"/>
          <p:cNvSpPr/>
          <p:nvPr/>
        </p:nvSpPr>
        <p:spPr>
          <a:xfrm>
            <a:off x="3337560" y="1234440"/>
            <a:ext cx="2468880" cy="2011680"/>
          </a:xfrm>
          <a:prstGeom prst="roundRect">
            <a:avLst>
              <a:gd name="adj" fmla="val 4545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anim:1:fade:head33"/>
          <p:cNvSpPr txBox="1"/>
          <p:nvPr/>
        </p:nvSpPr>
        <p:spPr>
          <a:xfrm>
            <a:off x="3429000" y="1325880"/>
            <a:ext cx="2286000" cy="36576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Fact: Orders (Sheet3)</a:t>
            </a:r>
            <a:endParaRPr lang="en-US" sz="1400" dirty="0"/>
          </a:p>
        </p:txBody>
      </p:sp>
      <p:sp>
        <p:nvSpPr>
          <p:cNvPr id="8" name="anim:1:fade:rows34"/>
          <p:cNvSpPr txBox="1"/>
          <p:nvPr/>
        </p:nvSpPr>
        <p:spPr>
          <a:xfrm>
            <a:off x="3474720" y="1764792"/>
            <a:ext cx="2194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Date, CustomerID, PromotionID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Product ID, Units Sold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Price Per Unit, Total Sales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Discount %, Discount Value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Net Sales  (3,510 rows)</a:t>
            </a:r>
            <a:endParaRPr lang="en-US" sz="1200" dirty="0"/>
          </a:p>
        </p:txBody>
      </p:sp>
      <p:sp>
        <p:nvSpPr>
          <p:cNvPr id="9" name="anim:2:fade:tbl35"/>
          <p:cNvSpPr/>
          <p:nvPr/>
        </p:nvSpPr>
        <p:spPr>
          <a:xfrm>
            <a:off x="457200" y="1234440"/>
            <a:ext cx="2331720" cy="2011680"/>
          </a:xfrm>
          <a:prstGeom prst="roundRect">
            <a:avLst>
              <a:gd name="adj" fmla="val 4545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anim:2:fade:head36"/>
          <p:cNvSpPr txBox="1"/>
          <p:nvPr/>
        </p:nvSpPr>
        <p:spPr>
          <a:xfrm>
            <a:off x="548640" y="1325880"/>
            <a:ext cx="2148840" cy="365760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Dim Customers</a:t>
            </a:r>
            <a:endParaRPr lang="en-US" sz="1400" dirty="0"/>
          </a:p>
        </p:txBody>
      </p:sp>
      <p:sp>
        <p:nvSpPr>
          <p:cNvPr id="11" name="anim:2:fade:rows37"/>
          <p:cNvSpPr txBox="1"/>
          <p:nvPr/>
        </p:nvSpPr>
        <p:spPr>
          <a:xfrm>
            <a:off x="594360" y="1764792"/>
            <a:ext cx="2057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Customer ID, Name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City, State, Pincode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EmailID, Phone Number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50 customers</a:t>
            </a:r>
            <a:endParaRPr lang="en-US" sz="1200" dirty="0"/>
          </a:p>
        </p:txBody>
      </p:sp>
      <p:sp>
        <p:nvSpPr>
          <p:cNvPr id="12" name="anim:2:fade:tbl38"/>
          <p:cNvSpPr/>
          <p:nvPr/>
        </p:nvSpPr>
        <p:spPr>
          <a:xfrm>
            <a:off x="6355080" y="1234440"/>
            <a:ext cx="2331720" cy="2011680"/>
          </a:xfrm>
          <a:prstGeom prst="roundRect">
            <a:avLst>
              <a:gd name="adj" fmla="val 4545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anim:2:fade:head39"/>
          <p:cNvSpPr txBox="1"/>
          <p:nvPr/>
        </p:nvSpPr>
        <p:spPr>
          <a:xfrm>
            <a:off x="6446520" y="1325880"/>
            <a:ext cx="2148840" cy="365760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Dim Product</a:t>
            </a:r>
            <a:endParaRPr lang="en-US" sz="1400" dirty="0"/>
          </a:p>
        </p:txBody>
      </p:sp>
      <p:sp>
        <p:nvSpPr>
          <p:cNvPr id="14" name="anim:2:fade:rows40"/>
          <p:cNvSpPr txBox="1"/>
          <p:nvPr/>
        </p:nvSpPr>
        <p:spPr>
          <a:xfrm>
            <a:off x="6492240" y="1764792"/>
            <a:ext cx="2057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ProductID, Product Name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Product Line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Price (INR)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30 products</a:t>
            </a:r>
            <a:endParaRPr lang="en-US" sz="1200" dirty="0"/>
          </a:p>
        </p:txBody>
      </p:sp>
      <p:sp>
        <p:nvSpPr>
          <p:cNvPr id="15" name="anim:4:fade:tbl41"/>
          <p:cNvSpPr/>
          <p:nvPr/>
        </p:nvSpPr>
        <p:spPr>
          <a:xfrm>
            <a:off x="3337560" y="3566160"/>
            <a:ext cx="2468880" cy="1097280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6" name="anim:4:fade:head42"/>
          <p:cNvSpPr txBox="1"/>
          <p:nvPr/>
        </p:nvSpPr>
        <p:spPr>
          <a:xfrm>
            <a:off x="3429000" y="3657600"/>
            <a:ext cx="2286000" cy="365760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Dim Promotion</a:t>
            </a:r>
            <a:endParaRPr lang="en-US" sz="1400" dirty="0"/>
          </a:p>
        </p:txBody>
      </p:sp>
      <p:sp>
        <p:nvSpPr>
          <p:cNvPr id="17" name="anim:4:fade:rows43"/>
          <p:cNvSpPr txBox="1"/>
          <p:nvPr/>
        </p:nvSpPr>
        <p:spPr>
          <a:xfrm>
            <a:off x="3474720" y="409651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ID, Name, Ad Type, Coupon Code, Reduction Type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5 promotions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9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35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3" grpId="0" animBg="1"/>
      <p:bldP spid="4" grpId="0" animBg="1"/>
      <p:bldP spid="5" grpId="0" animBg="1"/>
      <p:bldP spid="15" grpId="0" animBg="1"/>
      <p:bldP spid="16" grpId="0" animBg="1"/>
      <p:bldP spid="1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headline numbers</a:t>
            </a:r>
            <a:endParaRPr lang="en-US" sz="3200" dirty="0"/>
          </a:p>
        </p:txBody>
      </p:sp>
      <p:sp>
        <p:nvSpPr>
          <p:cNvPr id="3" name="anim:1:fade:kc44"/>
          <p:cNvSpPr/>
          <p:nvPr/>
        </p:nvSpPr>
        <p:spPr>
          <a:xfrm>
            <a:off x="457200" y="1280160"/>
            <a:ext cx="1874520" cy="201168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4" name="anim:1:fade:kv45"/>
          <p:cNvSpPr txBox="1"/>
          <p:nvPr/>
        </p:nvSpPr>
        <p:spPr>
          <a:xfrm>
            <a:off x="548640" y="15544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3,510</a:t>
            </a:r>
            <a:endParaRPr lang="en-US" sz="4000" dirty="0"/>
          </a:p>
        </p:txBody>
      </p:sp>
      <p:sp>
        <p:nvSpPr>
          <p:cNvPr id="5" name="anim:1:fade:kl46"/>
          <p:cNvSpPr txBox="1"/>
          <p:nvPr/>
        </p:nvSpPr>
        <p:spPr>
          <a:xfrm>
            <a:off x="548640" y="24688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Total orders</a:t>
            </a:r>
            <a:endParaRPr lang="en-US" sz="1400" dirty="0"/>
          </a:p>
        </p:txBody>
      </p:sp>
      <p:sp>
        <p:nvSpPr>
          <p:cNvPr id="6" name="anim:2:fade:kc47"/>
          <p:cNvSpPr/>
          <p:nvPr/>
        </p:nvSpPr>
        <p:spPr>
          <a:xfrm>
            <a:off x="2514600" y="1280160"/>
            <a:ext cx="1874520" cy="201168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anim:2:fade:kv48"/>
          <p:cNvSpPr txBox="1"/>
          <p:nvPr/>
        </p:nvSpPr>
        <p:spPr>
          <a:xfrm>
            <a:off x="2606040" y="15544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122M</a:t>
            </a:r>
            <a:endParaRPr lang="en-US" sz="4000" dirty="0"/>
          </a:p>
        </p:txBody>
      </p:sp>
      <p:sp>
        <p:nvSpPr>
          <p:cNvPr id="8" name="anim:2:fade:kl49"/>
          <p:cNvSpPr txBox="1"/>
          <p:nvPr/>
        </p:nvSpPr>
        <p:spPr>
          <a:xfrm>
            <a:off x="2606040" y="24688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Net sales (INR)</a:t>
            </a:r>
            <a:endParaRPr lang="en-US" sz="1400" dirty="0"/>
          </a:p>
        </p:txBody>
      </p:sp>
      <p:sp>
        <p:nvSpPr>
          <p:cNvPr id="9" name="anim:3:fade:kc50"/>
          <p:cNvSpPr/>
          <p:nvPr/>
        </p:nvSpPr>
        <p:spPr>
          <a:xfrm>
            <a:off x="4572000" y="1280160"/>
            <a:ext cx="1874520" cy="201168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anim:3:fade:kv51"/>
          <p:cNvSpPr txBox="1"/>
          <p:nvPr/>
        </p:nvSpPr>
        <p:spPr>
          <a:xfrm>
            <a:off x="4663440" y="15544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12.2M</a:t>
            </a:r>
            <a:endParaRPr lang="en-US" sz="4000" dirty="0"/>
          </a:p>
        </p:txBody>
      </p:sp>
      <p:sp>
        <p:nvSpPr>
          <p:cNvPr id="11" name="anim:3:fade:kl52"/>
          <p:cNvSpPr txBox="1"/>
          <p:nvPr/>
        </p:nvSpPr>
        <p:spPr>
          <a:xfrm>
            <a:off x="4663440" y="24688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Total profit</a:t>
            </a:r>
            <a:endParaRPr lang="en-US" sz="1400" dirty="0"/>
          </a:p>
        </p:txBody>
      </p:sp>
      <p:sp>
        <p:nvSpPr>
          <p:cNvPr id="12" name="anim:4:fade:kc53"/>
          <p:cNvSpPr/>
          <p:nvPr/>
        </p:nvSpPr>
        <p:spPr>
          <a:xfrm>
            <a:off x="6629400" y="1280160"/>
            <a:ext cx="1874520" cy="201168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anim:4:fade:kv54"/>
          <p:cNvSpPr txBox="1"/>
          <p:nvPr/>
        </p:nvSpPr>
        <p:spPr>
          <a:xfrm>
            <a:off x="6720840" y="15544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7.1K</a:t>
            </a:r>
            <a:endParaRPr lang="en-US" sz="4000" dirty="0"/>
          </a:p>
        </p:txBody>
      </p:sp>
      <p:sp>
        <p:nvSpPr>
          <p:cNvPr id="14" name="anim:4:fade:kl55"/>
          <p:cNvSpPr txBox="1"/>
          <p:nvPr/>
        </p:nvSpPr>
        <p:spPr>
          <a:xfrm>
            <a:off x="6720840" y="24688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Units sold</a:t>
            </a:r>
            <a:endParaRPr lang="en-US" sz="1400" dirty="0"/>
          </a:p>
        </p:txBody>
      </p:sp>
      <p:sp>
        <p:nvSpPr>
          <p:cNvPr id="15" name="anim:5:wipe:bar56"/>
          <p:cNvSpPr/>
          <p:nvPr/>
        </p:nvSpPr>
        <p:spPr>
          <a:xfrm>
            <a:off x="457200" y="3611880"/>
            <a:ext cx="8229600" cy="822960"/>
          </a:xfrm>
          <a:prstGeom prst="roundRect">
            <a:avLst>
              <a:gd name="adj" fmla="val 11111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6" name="anim:5:wipe:bartxt57"/>
          <p:cNvSpPr txBox="1"/>
          <p:nvPr/>
        </p:nvSpPr>
        <p:spPr>
          <a:xfrm>
            <a:off x="731520" y="36118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About 10% profit margin 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(12.2M profit on 122M net sales), 1 Jan 2020 to 1 Jan 2024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35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8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and bottom 5 products</a:t>
            </a:r>
            <a:endParaRPr lang="en-US" sz="3200" dirty="0"/>
          </a:p>
        </p:txBody>
      </p:sp>
      <p:sp>
        <p:nvSpPr>
          <p:cNvPr id="3" name="anim:1:wipe:top58-frame"/>
          <p:cNvSpPr/>
          <p:nvPr/>
        </p:nvSpPr>
        <p:spPr>
          <a:xfrm>
            <a:off x="448056" y="1133856"/>
            <a:ext cx="5138928" cy="3042800"/>
          </a:xfrm>
          <a:prstGeom prst="roundRect">
            <a:avLst>
              <a:gd name="adj" fmla="val 180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4" name="anim:1:wipe:top58" descr="anim:1:wipe:top5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88720"/>
            <a:ext cx="5029200" cy="2933072"/>
          </a:xfrm>
          <a:prstGeom prst="rect">
            <a:avLst/>
          </a:prstGeom>
        </p:spPr>
      </p:pic>
      <p:sp>
        <p:nvSpPr>
          <p:cNvPr id="5" name="anim:2:fade:c59"/>
          <p:cNvSpPr/>
          <p:nvPr/>
        </p:nvSpPr>
        <p:spPr>
          <a:xfrm>
            <a:off x="5806440" y="1188720"/>
            <a:ext cx="288036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anim:2:fade:t60"/>
          <p:cNvSpPr txBox="1"/>
          <p:nvPr/>
        </p:nvSpPr>
        <p:spPr>
          <a:xfrm>
            <a:off x="5943600" y="1261872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Sales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iPhone 14 leads at 21.4M; Colgate Toothpaste trails at 0.02M</a:t>
            </a:r>
            <a:endParaRPr lang="en-US" sz="1400" dirty="0"/>
          </a:p>
        </p:txBody>
      </p:sp>
      <p:sp>
        <p:nvSpPr>
          <p:cNvPr id="7" name="anim:3:fade:c61"/>
          <p:cNvSpPr/>
          <p:nvPr/>
        </p:nvSpPr>
        <p:spPr>
          <a:xfrm>
            <a:off x="5806440" y="2359152"/>
            <a:ext cx="288036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anim:3:fade:t62"/>
          <p:cNvSpPr txBox="1"/>
          <p:nvPr/>
        </p:nvSpPr>
        <p:spPr>
          <a:xfrm>
            <a:off x="5943600" y="2432304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Quantity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Bottom 5 still sell 203 to 219 units: low price, not low demand</a:t>
            </a:r>
            <a:endParaRPr lang="en-US" sz="1400" dirty="0"/>
          </a:p>
        </p:txBody>
      </p:sp>
      <p:sp>
        <p:nvSpPr>
          <p:cNvPr id="9" name="anim:4:fade:c63"/>
          <p:cNvSpPr/>
          <p:nvPr/>
        </p:nvSpPr>
        <p:spPr>
          <a:xfrm>
            <a:off x="5806440" y="3529584"/>
            <a:ext cx="288036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anim:4:fade:t64"/>
          <p:cNvSpPr txBox="1"/>
          <p:nvPr/>
        </p:nvSpPr>
        <p:spPr>
          <a:xfrm>
            <a:off x="5943600" y="3602736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Profit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Electronics fill the top 5, led by iPhone 14 at 2.14M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9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35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trend over time</a:t>
            </a:r>
            <a:endParaRPr lang="en-US" sz="3200" dirty="0"/>
          </a:p>
        </p:txBody>
      </p:sp>
      <p:sp>
        <p:nvSpPr>
          <p:cNvPr id="3" name="anim:1:wipe:trend65-frame"/>
          <p:cNvSpPr/>
          <p:nvPr/>
        </p:nvSpPr>
        <p:spPr>
          <a:xfrm>
            <a:off x="402336" y="1133856"/>
            <a:ext cx="8339328" cy="1751902"/>
          </a:xfrm>
          <a:prstGeom prst="roundRect">
            <a:avLst>
              <a:gd name="adj" fmla="val 3132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4" name="anim:1:wipe:trend65" descr="anim:1:wipe:trend6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8229600" cy="1642174"/>
          </a:xfrm>
          <a:prstGeom prst="rect">
            <a:avLst/>
          </a:prstGeom>
        </p:spPr>
      </p:pic>
      <p:sp>
        <p:nvSpPr>
          <p:cNvPr id="5" name="anim:2:fade:c66"/>
          <p:cNvSpPr/>
          <p:nvPr/>
        </p:nvSpPr>
        <p:spPr>
          <a:xfrm>
            <a:off x="457200" y="3291840"/>
            <a:ext cx="265176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anim:2:fade:t67"/>
          <p:cNvSpPr txBox="1"/>
          <p:nvPr/>
        </p:nvSpPr>
        <p:spPr>
          <a:xfrm>
            <a:off x="594360" y="33832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Spiky, not smooth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Daily sales jump to 0.4M to 0.65M against a low baseline</a:t>
            </a:r>
            <a:endParaRPr lang="en-US" sz="1400" dirty="0"/>
          </a:p>
        </p:txBody>
      </p:sp>
      <p:sp>
        <p:nvSpPr>
          <p:cNvPr id="7" name="anim:3:fade:c68"/>
          <p:cNvSpPr/>
          <p:nvPr/>
        </p:nvSpPr>
        <p:spPr>
          <a:xfrm>
            <a:off x="3246120" y="3291840"/>
            <a:ext cx="265176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anim:3:fade:t69"/>
          <p:cNvSpPr txBox="1"/>
          <p:nvPr/>
        </p:nvSpPr>
        <p:spPr>
          <a:xfrm>
            <a:off x="3383280" y="33832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Highest peak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About 0.65M, around late 2022</a:t>
            </a:r>
            <a:endParaRPr lang="en-US" sz="1400" dirty="0"/>
          </a:p>
        </p:txBody>
      </p:sp>
      <p:sp>
        <p:nvSpPr>
          <p:cNvPr id="9" name="anim:4:fade:c70"/>
          <p:cNvSpPr/>
          <p:nvPr/>
        </p:nvSpPr>
        <p:spPr>
          <a:xfrm>
            <a:off x="6035040" y="3291840"/>
            <a:ext cx="265176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anim:4:fade:t71"/>
          <p:cNvSpPr txBox="1"/>
          <p:nvPr/>
        </p:nvSpPr>
        <p:spPr>
          <a:xfrm>
            <a:off x="6172200" y="33832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Quiet days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Some days drop to 0.00M, so demand is uneven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9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35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and profit move together</a:t>
            </a:r>
            <a:endParaRPr lang="en-US" sz="3200" dirty="0"/>
          </a:p>
        </p:txBody>
      </p:sp>
      <p:sp>
        <p:nvSpPr>
          <p:cNvPr id="3" name="anim:1:wipe:scatter72-frame"/>
          <p:cNvSpPr/>
          <p:nvPr/>
        </p:nvSpPr>
        <p:spPr>
          <a:xfrm>
            <a:off x="493776" y="1133856"/>
            <a:ext cx="3493008" cy="3404363"/>
          </a:xfrm>
          <a:prstGeom prst="roundRect">
            <a:avLst>
              <a:gd name="adj" fmla="val 1612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4" name="anim:1:wipe:scatter72" descr="anim:1:wipe:scatter7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3383280" cy="3294635"/>
          </a:xfrm>
          <a:prstGeom prst="rect">
            <a:avLst/>
          </a:prstGeom>
        </p:spPr>
      </p:pic>
      <p:sp>
        <p:nvSpPr>
          <p:cNvPr id="5" name="anim:2:fade:c73"/>
          <p:cNvSpPr/>
          <p:nvPr/>
        </p:nvSpPr>
        <p:spPr>
          <a:xfrm>
            <a:off x="4480560" y="1188720"/>
            <a:ext cx="420624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anim:2:fade:t74"/>
          <p:cNvSpPr txBox="1"/>
          <p:nvPr/>
        </p:nvSpPr>
        <p:spPr>
          <a:xfrm>
            <a:off x="4663440" y="128016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 straight line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Profit rises in direct proportion to net sales</a:t>
            </a:r>
            <a:endParaRPr lang="en-US" sz="1600" dirty="0"/>
          </a:p>
        </p:txBody>
      </p:sp>
      <p:sp>
        <p:nvSpPr>
          <p:cNvPr id="7" name="anim:3:fade:c75"/>
          <p:cNvSpPr/>
          <p:nvPr/>
        </p:nvSpPr>
        <p:spPr>
          <a:xfrm>
            <a:off x="4480560" y="2359152"/>
            <a:ext cx="420624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anim:3:fade:t76"/>
          <p:cNvSpPr txBox="1"/>
          <p:nvPr/>
        </p:nvSpPr>
        <p:spPr>
          <a:xfrm>
            <a:off x="4663440" y="2450592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About 10% margin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12.2M profit on 122M net sales</a:t>
            </a:r>
            <a:endParaRPr lang="en-US" sz="1600" dirty="0"/>
          </a:p>
        </p:txBody>
      </p:sp>
      <p:sp>
        <p:nvSpPr>
          <p:cNvPr id="9" name="anim:4:fade:c77"/>
          <p:cNvSpPr/>
          <p:nvPr/>
        </p:nvSpPr>
        <p:spPr>
          <a:xfrm>
            <a:off x="4480560" y="3529584"/>
            <a:ext cx="420624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anim:4:fade:t78"/>
          <p:cNvSpPr txBox="1"/>
          <p:nvPr/>
        </p:nvSpPr>
        <p:spPr>
          <a:xfrm>
            <a:off x="4663440" y="3621024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Biggest order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Roughly 278K net sales earning about 28K profit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9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35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sell, how we discount</a:t>
            </a:r>
            <a:endParaRPr lang="en-US" sz="3200" dirty="0"/>
          </a:p>
        </p:txBody>
      </p:sp>
      <p:sp>
        <p:nvSpPr>
          <p:cNvPr id="3" name="anim:1:wipe:map79-frame"/>
          <p:cNvSpPr/>
          <p:nvPr/>
        </p:nvSpPr>
        <p:spPr>
          <a:xfrm>
            <a:off x="493776" y="1133856"/>
            <a:ext cx="2569382" cy="2944368"/>
          </a:xfrm>
          <a:prstGeom prst="roundRect">
            <a:avLst>
              <a:gd name="adj" fmla="val 213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4" name="anim:1:wipe:map79" descr="anim:1:wipe:map7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2459654" cy="2834640"/>
          </a:xfrm>
          <a:prstGeom prst="rect">
            <a:avLst/>
          </a:prstGeom>
        </p:spPr>
      </p:pic>
      <p:sp>
        <p:nvSpPr>
          <p:cNvPr id="5" name="anim:2:wipe:disc80-frame"/>
          <p:cNvSpPr/>
          <p:nvPr/>
        </p:nvSpPr>
        <p:spPr>
          <a:xfrm>
            <a:off x="3877056" y="1133856"/>
            <a:ext cx="3925915" cy="2944368"/>
          </a:xfrm>
          <a:prstGeom prst="roundRect">
            <a:avLst>
              <a:gd name="adj" fmla="val 186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6" name="anim:2:wipe:disc80" descr="anim:2:wipe:disc80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188720"/>
            <a:ext cx="3816187" cy="2834640"/>
          </a:xfrm>
          <a:prstGeom prst="rect">
            <a:avLst/>
          </a:prstGeom>
        </p:spPr>
      </p:pic>
      <p:sp>
        <p:nvSpPr>
          <p:cNvPr id="7" name="anim:1:fade:cap181"/>
          <p:cNvSpPr txBox="1"/>
          <p:nvPr/>
        </p:nvSpPr>
        <p:spPr>
          <a:xfrm>
            <a:off x="502920" y="42062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Bubble size shows sales in each city across India</a:t>
            </a:r>
            <a:endParaRPr lang="en-US" sz="1200" dirty="0"/>
          </a:p>
        </p:txBody>
      </p:sp>
      <p:sp>
        <p:nvSpPr>
          <p:cNvPr id="8" name="anim:2:fade:cap282"/>
          <p:cNvSpPr txBox="1"/>
          <p:nvPr/>
        </p:nvSpPr>
        <p:spPr>
          <a:xfrm>
            <a:off x="3931920" y="42062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Weekend Flash Sale has the highest average discount value (23K); Festive Diwali is near zero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5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5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any two periods</a:t>
            </a:r>
            <a:endParaRPr lang="en-US" sz="3200" dirty="0"/>
          </a:p>
        </p:txBody>
      </p:sp>
      <p:sp>
        <p:nvSpPr>
          <p:cNvPr id="3" name="anim:1:wipe:cmpa83-frame"/>
          <p:cNvSpPr/>
          <p:nvPr/>
        </p:nvSpPr>
        <p:spPr>
          <a:xfrm>
            <a:off x="448056" y="1179576"/>
            <a:ext cx="3950208" cy="2257979"/>
          </a:xfrm>
          <a:prstGeom prst="roundRect">
            <a:avLst>
              <a:gd name="adj" fmla="val 243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4" name="anim:1:wipe:cmpa83" descr="anim:1:wipe:cmpa8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3840480" cy="2148251"/>
          </a:xfrm>
          <a:prstGeom prst="rect">
            <a:avLst/>
          </a:prstGeom>
        </p:spPr>
      </p:pic>
      <p:sp>
        <p:nvSpPr>
          <p:cNvPr id="5" name="anim:2:wipe:cmpb84-frame"/>
          <p:cNvSpPr/>
          <p:nvPr/>
        </p:nvSpPr>
        <p:spPr>
          <a:xfrm>
            <a:off x="4745736" y="1179576"/>
            <a:ext cx="3950208" cy="2277209"/>
          </a:xfrm>
          <a:prstGeom prst="roundRect">
            <a:avLst>
              <a:gd name="adj" fmla="val 240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6" name="anim:2:wipe:cmpb84" descr="anim:2:wipe:cmpb84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234440"/>
            <a:ext cx="3840480" cy="2167481"/>
          </a:xfrm>
          <a:prstGeom prst="rect">
            <a:avLst/>
          </a:prstGeom>
        </p:spPr>
      </p:pic>
      <p:sp>
        <p:nvSpPr>
          <p:cNvPr id="7" name="anim:1:fade:c185"/>
          <p:cNvSpPr txBox="1"/>
          <p:nvPr/>
        </p:nvSpPr>
        <p:spPr>
          <a:xfrm>
            <a:off x="502920" y="3977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Page 1: KPI bars for each period</a:t>
            </a:r>
            <a:endParaRPr lang="en-US" sz="1400" dirty="0"/>
          </a:p>
        </p:txBody>
      </p:sp>
      <p:sp>
        <p:nvSpPr>
          <p:cNvPr id="8" name="anim:2:fade:c286"/>
          <p:cNvSpPr txBox="1"/>
          <p:nvPr/>
        </p:nvSpPr>
        <p:spPr>
          <a:xfrm>
            <a:off x="4800600" y="3977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Page 2: side-by-side columns</a:t>
            </a:r>
            <a:endParaRPr lang="en-US" sz="1400" dirty="0"/>
          </a:p>
        </p:txBody>
      </p:sp>
      <p:sp>
        <p:nvSpPr>
          <p:cNvPr id="9" name="anim:3:fade:c387"/>
          <p:cNvSpPr txBox="1"/>
          <p:nvPr/>
        </p:nvSpPr>
        <p:spPr>
          <a:xfrm>
            <a:off x="502920" y="434340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Two date sliders let the user pick Period 1 and Period 2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5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5" grpId="0" animBg="1"/>
      <p:bldP spid="8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full period vs early period</a:t>
            </a:r>
            <a:endParaRPr lang="en-US" sz="3200" dirty="0"/>
          </a:p>
        </p:txBody>
      </p:sp>
      <p:sp>
        <p:nvSpPr>
          <p:cNvPr id="3" name="anim:1:fade:legend88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Period 1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 Jan 2020 to 1 Jan 2024</a:t>
            </a:r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     Period 2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 Jan 2020 to 20 Jun 2022</a:t>
            </a:r>
            <a:endParaRPr lang="en-US" sz="1400" dirty="0"/>
          </a:p>
        </p:txBody>
      </p:sp>
      <p:sp>
        <p:nvSpPr>
          <p:cNvPr id="4" name="anim:2:fade:lab89"/>
          <p:cNvSpPr txBox="1"/>
          <p:nvPr/>
        </p:nvSpPr>
        <p:spPr>
          <a:xfrm>
            <a:off x="457200" y="1600200"/>
            <a:ext cx="13716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Net sales</a:t>
            </a:r>
            <a:endParaRPr lang="en-US" sz="1600" dirty="0"/>
          </a:p>
        </p:txBody>
      </p:sp>
      <p:sp>
        <p:nvSpPr>
          <p:cNvPr id="5" name="anim:2:wipe:b190"/>
          <p:cNvSpPr txBox="1"/>
          <p:nvPr/>
        </p:nvSpPr>
        <p:spPr>
          <a:xfrm>
            <a:off x="1920240" y="1600200"/>
            <a:ext cx="5669280" cy="356616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122M</a:t>
            </a:r>
            <a:endParaRPr lang="en-US" sz="1400" dirty="0"/>
          </a:p>
        </p:txBody>
      </p:sp>
      <p:sp>
        <p:nvSpPr>
          <p:cNvPr id="6" name="anim:2:wipe:b291"/>
          <p:cNvSpPr txBox="1"/>
          <p:nvPr/>
        </p:nvSpPr>
        <p:spPr>
          <a:xfrm>
            <a:off x="1920240" y="1984248"/>
            <a:ext cx="3486607" cy="356616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75M</a:t>
            </a:r>
            <a:endParaRPr lang="en-US" sz="1400" dirty="0"/>
          </a:p>
        </p:txBody>
      </p:sp>
      <p:sp>
        <p:nvSpPr>
          <p:cNvPr id="7" name="anim:3:fade:lab92"/>
          <p:cNvSpPr txBox="1"/>
          <p:nvPr/>
        </p:nvSpPr>
        <p:spPr>
          <a:xfrm>
            <a:off x="457200" y="2468880"/>
            <a:ext cx="13716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Profit</a:t>
            </a:r>
            <a:endParaRPr lang="en-US" sz="1600" dirty="0"/>
          </a:p>
        </p:txBody>
      </p:sp>
      <p:sp>
        <p:nvSpPr>
          <p:cNvPr id="8" name="anim:3:wipe:b193"/>
          <p:cNvSpPr txBox="1"/>
          <p:nvPr/>
        </p:nvSpPr>
        <p:spPr>
          <a:xfrm>
            <a:off x="1920240" y="2468880"/>
            <a:ext cx="5669280" cy="356616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12.2M</a:t>
            </a:r>
            <a:endParaRPr lang="en-US" sz="1400" dirty="0"/>
          </a:p>
        </p:txBody>
      </p:sp>
      <p:sp>
        <p:nvSpPr>
          <p:cNvPr id="9" name="anim:3:wipe:b294"/>
          <p:cNvSpPr txBox="1"/>
          <p:nvPr/>
        </p:nvSpPr>
        <p:spPr>
          <a:xfrm>
            <a:off x="1920240" y="2852928"/>
            <a:ext cx="3486607" cy="356616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7.5M</a:t>
            </a:r>
            <a:endParaRPr lang="en-US" sz="1400" dirty="0"/>
          </a:p>
        </p:txBody>
      </p:sp>
      <p:sp>
        <p:nvSpPr>
          <p:cNvPr id="10" name="anim:4:fade:lab95"/>
          <p:cNvSpPr txBox="1"/>
          <p:nvPr/>
        </p:nvSpPr>
        <p:spPr>
          <a:xfrm>
            <a:off x="457200" y="3337560"/>
            <a:ext cx="13716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Units sold</a:t>
            </a:r>
            <a:endParaRPr lang="en-US" sz="1600" dirty="0"/>
          </a:p>
        </p:txBody>
      </p:sp>
      <p:sp>
        <p:nvSpPr>
          <p:cNvPr id="11" name="anim:4:wipe:b196"/>
          <p:cNvSpPr txBox="1"/>
          <p:nvPr/>
        </p:nvSpPr>
        <p:spPr>
          <a:xfrm>
            <a:off x="1920240" y="3337560"/>
            <a:ext cx="5669280" cy="356616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7.1K</a:t>
            </a:r>
            <a:endParaRPr lang="en-US" sz="1400" dirty="0"/>
          </a:p>
        </p:txBody>
      </p:sp>
      <p:sp>
        <p:nvSpPr>
          <p:cNvPr id="12" name="anim:4:wipe:b297"/>
          <p:cNvSpPr txBox="1"/>
          <p:nvPr/>
        </p:nvSpPr>
        <p:spPr>
          <a:xfrm>
            <a:off x="1920240" y="3721608"/>
            <a:ext cx="3435584" cy="356616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4.3K</a:t>
            </a:r>
            <a:endParaRPr lang="en-US" sz="1400" dirty="0"/>
          </a:p>
        </p:txBody>
      </p:sp>
      <p:sp>
        <p:nvSpPr>
          <p:cNvPr id="13" name="anim:5:fade:take98"/>
          <p:cNvSpPr/>
          <p:nvPr/>
        </p:nvSpPr>
        <p:spPr>
          <a:xfrm>
            <a:off x="457200" y="4206240"/>
            <a:ext cx="8229600" cy="502920"/>
          </a:xfrm>
          <a:prstGeom prst="roundRect">
            <a:avLst>
              <a:gd name="adj" fmla="val 18182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4" name="anim:5:fade:taketxt99"/>
          <p:cNvSpPr txBox="1"/>
          <p:nvPr/>
        </p:nvSpPr>
        <p:spPr>
          <a:xfrm>
            <a:off x="731520" y="42062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Period 2 delivers about 61% of the full-period sales, profit and units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9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35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8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Order-level explorer</a:t>
            </a:r>
            <a:endParaRPr lang="en-US" sz="3200" dirty="0"/>
          </a:p>
        </p:txBody>
      </p:sp>
      <p:sp>
        <p:nvSpPr>
          <p:cNvPr id="3" name="anim:1:wipe:table100-frame"/>
          <p:cNvSpPr/>
          <p:nvPr/>
        </p:nvSpPr>
        <p:spPr>
          <a:xfrm>
            <a:off x="448056" y="1133856"/>
            <a:ext cx="5321808" cy="2997807"/>
          </a:xfrm>
          <a:prstGeom prst="roundRect">
            <a:avLst>
              <a:gd name="adj" fmla="val 183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4" name="anim:1:wipe:table100" descr="anim:1:wipe:table10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88720"/>
            <a:ext cx="5212080" cy="2888079"/>
          </a:xfrm>
          <a:prstGeom prst="rect">
            <a:avLst/>
          </a:prstGeom>
        </p:spPr>
      </p:pic>
      <p:sp>
        <p:nvSpPr>
          <p:cNvPr id="5" name="anim:2:fade:c1101"/>
          <p:cNvSpPr/>
          <p:nvPr/>
        </p:nvSpPr>
        <p:spPr>
          <a:xfrm>
            <a:off x="5943600" y="1188720"/>
            <a:ext cx="274320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anim:2:fade:t1102"/>
          <p:cNvSpPr txBox="1"/>
          <p:nvPr/>
        </p:nvSpPr>
        <p:spPr>
          <a:xfrm>
            <a:off x="6080760" y="128016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Visual filters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Date, Customer Name, Product Name, Promotion Name</a:t>
            </a:r>
            <a:endParaRPr lang="en-US" sz="1400" dirty="0"/>
          </a:p>
        </p:txBody>
      </p:sp>
      <p:sp>
        <p:nvSpPr>
          <p:cNvPr id="7" name="anim:3:fade:c2103"/>
          <p:cNvSpPr/>
          <p:nvPr/>
        </p:nvSpPr>
        <p:spPr>
          <a:xfrm>
            <a:off x="5943600" y="2788920"/>
            <a:ext cx="274320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anim:3:fade:t2104"/>
          <p:cNvSpPr txBox="1"/>
          <p:nvPr/>
        </p:nvSpPr>
        <p:spPr>
          <a:xfrm>
            <a:off x="6080760" y="2880360"/>
            <a:ext cx="2468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Fields per order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Sales, profit, discount %, discount value, net sales, units, price, product and promotion IDs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9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:1:fade:h105"/>
          <p:cNvSpPr txBox="1"/>
          <p:nvPr/>
        </p:nvSpPr>
        <p:spPr>
          <a:xfrm>
            <a:off x="548640" y="64008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3" name="anim:6:fade:ty106"/>
          <p:cNvSpPr txBox="1"/>
          <p:nvPr/>
        </p:nvSpPr>
        <p:spPr>
          <a:xfrm>
            <a:off x="548640" y="3931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Thank you</a:t>
            </a:r>
            <a:endParaRPr lang="en-US" sz="2000" dirty="0"/>
          </a:p>
        </p:txBody>
      </p:sp>
      <p:sp>
        <p:nvSpPr>
          <p:cNvPr id="4" name="anim:2:fade:kc107"/>
          <p:cNvSpPr/>
          <p:nvPr/>
        </p:nvSpPr>
        <p:spPr>
          <a:xfrm>
            <a:off x="4206240" y="640080"/>
            <a:ext cx="4480560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anim:2:fade:kn108"/>
          <p:cNvSpPr txBox="1"/>
          <p:nvPr/>
        </p:nvSpPr>
        <p:spPr>
          <a:xfrm>
            <a:off x="4389120" y="87782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anim:2:fade:kt109"/>
          <p:cNvSpPr txBox="1"/>
          <p:nvPr/>
        </p:nvSpPr>
        <p:spPr>
          <a:xfrm>
            <a:off x="4937760" y="64008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Electronics drive sales and profit, led by iPhone 14</a:t>
            </a:r>
            <a:endParaRPr lang="en-US" sz="1400" dirty="0"/>
          </a:p>
        </p:txBody>
      </p:sp>
      <p:sp>
        <p:nvSpPr>
          <p:cNvPr id="7" name="anim:3:fade:kc110"/>
          <p:cNvSpPr/>
          <p:nvPr/>
        </p:nvSpPr>
        <p:spPr>
          <a:xfrm>
            <a:off x="4206240" y="1645920"/>
            <a:ext cx="4480560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anim:3:fade:kn111"/>
          <p:cNvSpPr txBox="1"/>
          <p:nvPr/>
        </p:nvSpPr>
        <p:spPr>
          <a:xfrm>
            <a:off x="4389120" y="188366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anim:3:fade:kt112"/>
          <p:cNvSpPr txBox="1"/>
          <p:nvPr/>
        </p:nvSpPr>
        <p:spPr>
          <a:xfrm>
            <a:off x="4937760" y="164592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Profit tracks net sales at about 10%</a:t>
            </a:r>
            <a:endParaRPr lang="en-US" sz="1400" dirty="0"/>
          </a:p>
        </p:txBody>
      </p:sp>
      <p:sp>
        <p:nvSpPr>
          <p:cNvPr id="10" name="anim:4:fade:kc113"/>
          <p:cNvSpPr/>
          <p:nvPr/>
        </p:nvSpPr>
        <p:spPr>
          <a:xfrm>
            <a:off x="4206240" y="2651760"/>
            <a:ext cx="4480560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anim:4:fade:kn114"/>
          <p:cNvSpPr txBox="1"/>
          <p:nvPr/>
        </p:nvSpPr>
        <p:spPr>
          <a:xfrm>
            <a:off x="4389120" y="288950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anim:4:fade:kt115"/>
          <p:cNvSpPr txBox="1"/>
          <p:nvPr/>
        </p:nvSpPr>
        <p:spPr>
          <a:xfrm>
            <a:off x="4937760" y="265176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Weekend Flash Sale has the highest average discount</a:t>
            </a:r>
            <a:endParaRPr lang="en-US" sz="1400" dirty="0"/>
          </a:p>
        </p:txBody>
      </p:sp>
      <p:sp>
        <p:nvSpPr>
          <p:cNvPr id="13" name="anim:5:fade:kc116"/>
          <p:cNvSpPr/>
          <p:nvPr/>
        </p:nvSpPr>
        <p:spPr>
          <a:xfrm>
            <a:off x="4206240" y="3657600"/>
            <a:ext cx="4480560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anim:5:fade:kn117"/>
          <p:cNvSpPr txBox="1"/>
          <p:nvPr/>
        </p:nvSpPr>
        <p:spPr>
          <a:xfrm>
            <a:off x="4389120" y="389534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anim:5:fade:kt118"/>
          <p:cNvSpPr txBox="1"/>
          <p:nvPr/>
        </p:nvSpPr>
        <p:spPr>
          <a:xfrm>
            <a:off x="4937760" y="365760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Filters and two-period comparison make the data explorable</a:t>
            </a:r>
            <a:endParaRPr lang="en-US" sz="14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9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35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8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25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3" grpId="0" animBg="1"/>
    </p:bldLst>
  </p:timing>
</p:sld>
</file>

<file path=ppt/theme/theme1.xml><?xml version="1.0" encoding="utf-8"?>
<a:theme xmlns:a="http://schemas.openxmlformats.org/drawingml/2006/main" name="ElectroHub">
  <a:themeElements>
    <a:clrScheme name="ElectroHub">
      <a:dk1>
        <a:srgbClr val="1B1640"/>
      </a:dk1>
      <a:lt1>
        <a:srgbClr val="FFFFFF"/>
      </a:lt1>
      <a:dk2>
        <a:srgbClr val="3A2F7A"/>
      </a:dk2>
      <a:lt2>
        <a:srgbClr val="F3F0FB"/>
      </a:lt2>
      <a:accent1>
        <a:srgbClr val="8E6FD8"/>
      </a:accent1>
      <a:accent2>
        <a:srgbClr val="3FA9FF"/>
      </a:accent2>
      <a:accent3>
        <a:srgbClr val="F0A585"/>
      </a:accent3>
      <a:accent4>
        <a:srgbClr val="6C63C7"/>
      </a:accent4>
      <a:accent5>
        <a:srgbClr val="B39DDB"/>
      </a:accent5>
      <a:accent6>
        <a:srgbClr val="2FBF9B"/>
      </a:accent6>
      <a:hlink>
        <a:srgbClr val="3FA9FF"/>
      </a:hlink>
      <a:folHlink>
        <a:srgbClr val="B39DDB"/>
      </a:folHlink>
    </a:clrScheme>
    <a:fontScheme name="ElectroHub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ElectroHub Sales Analytics Dashboard</dc:title>
  <dc:subject>PptxGenJS Presentation</dc:subject>
  <dc:creator>PptxGenJS</dc:creator>
  <cp:lastModifiedBy>PptxGenJS</cp:lastModifiedBy>
  <cp:revision>1</cp:revision>
  <dcterms:created xsi:type="dcterms:W3CDTF">2026-10-06T20:53:39Z</dcterms:created>
  <dcterms:modified xsi:type="dcterms:W3CDTF">2026-10-06T20:53:39Z</dcterms:modified>
</cp:coreProperties>
</file>